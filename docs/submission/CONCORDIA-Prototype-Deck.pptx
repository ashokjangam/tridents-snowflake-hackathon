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11"/>
    <p:sldId id="258" r:id="rId10"/>
    <p:sldId id="259" r:id="rId9"/>
    <p:sldId id="260" r:id="rId8"/>
    <p:sldId id="261" r:id="rId7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hyperlink" Target="https://hack2skill.com/event/cococlihack-gccedition/dashboard/team-management?utm_source=hack2skill&amp;utm_medium=homepage" TargetMode="External"/><Relationship Id="rId5" Type="http://schemas.openxmlformats.org/officeDocument/2006/relationships/hyperlink" Target="https://www.linkedin.com/in/jangam-ashok-53a95812b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6144768" y="2999232"/>
            <a:ext cx="2542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0A5CA8"/>
                </a:solidFill>
                <a:latin typeface="Cambria"/>
              </a:rPr>
              <a:t>CONCORDIA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53912" y="3456432"/>
            <a:ext cx="2505456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C1822"/>
                </a:solidFill>
                <a:latin typeface="Calibri"/>
              </a:rPr>
              <a:t>DIFFERENT TEAMS. SAME TRUTH.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" y="3145536"/>
            <a:ext cx="5120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0C1822"/>
                </a:solidFill>
                <a:latin typeface="Calibri"/>
              </a:rPr>
              <a:t>Team Name: </a:t>
            </a:r>
            <a:r>
              <a:rPr sz="1300" b="1">
                <a:solidFill>
                  <a:srgbClr val="0A5CA8"/>
                </a:solidFill>
                <a:latin typeface="Calibri"/>
                <a:hlinkClick r:id="rId4"/>
              </a:rPr>
              <a:t>TRidents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912" y="3493008"/>
            <a:ext cx="5120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0C1822"/>
                </a:solidFill>
                <a:latin typeface="Calibri"/>
              </a:rPr>
              <a:t>Team Leader: </a:t>
            </a:r>
            <a:r>
              <a:rPr sz="1300" b="1">
                <a:solidFill>
                  <a:srgbClr val="0A5CA8"/>
                </a:solidFill>
                <a:latin typeface="Calibri"/>
                <a:hlinkClick r:id="rId5"/>
              </a:rPr>
              <a:t>Ashok Jangam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" y="3840480"/>
            <a:ext cx="5120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C1822"/>
                </a:solidFill>
                <a:latin typeface="Calibri"/>
              </a:rPr>
              <a:t>Team Size: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" y="4187952"/>
            <a:ext cx="81838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C1822"/>
                </a:solidFill>
                <a:latin typeface="Calibri"/>
              </a:rPr>
              <a:t>Problem Statement 5: Supply Chain Ontology and Governed Analytics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" y="4617720"/>
            <a:ext cx="8183879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0A5CA8"/>
                </a:solidFill>
                <a:latin typeface="Calibri"/>
              </a:rPr>
              <a:t>Simulated manufacturer. Five metrics. One answer for every team.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mplate background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11480" y="640080"/>
            <a:ext cx="8321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02A43"/>
                </a:solidFill>
                <a:latin typeface="Calibri"/>
              </a:rPr>
              <a:t>One question. Six source systems. Too many answers.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11480" y="1042415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16D83"/>
                </a:solidFill>
                <a:latin typeface="Calibri"/>
              </a:rPr>
              <a:t>Mid-size discrete manufacturer · supply chain leadership, procurement, logistics, planning and finance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4892040" cy="457200"/>
          </a:xfrm>
          <a:prstGeom prst="roundRect">
            <a:avLst>
              <a:gd name="adj" fmla="val 25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“What was our on-time delivery in May?”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057400"/>
            <a:ext cx="1417320" cy="402336"/>
          </a:xfrm>
          <a:prstGeom prst="roundRect">
            <a:avLst>
              <a:gd name="adj" fmla="val 2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746A2"/>
                </a:solidFill>
                <a:latin typeface="Calibri"/>
              </a:rPr>
              <a:t>Procurement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2075688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516D83"/>
                </a:solidFill>
                <a:latin typeface="Calibri"/>
              </a:rPr>
              <a:t>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07568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02A43"/>
                </a:solidFill>
                <a:latin typeface="Calibri"/>
              </a:rPr>
              <a:t>on time = received by the PO need 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560320"/>
            <a:ext cx="1417320" cy="402336"/>
          </a:xfrm>
          <a:prstGeom prst="roundRect">
            <a:avLst>
              <a:gd name="adj" fmla="val 2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746A2"/>
                </a:solidFill>
                <a:latin typeface="Calibri"/>
              </a:rPr>
              <a:t>Logistics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2578608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516D83"/>
                </a:solidFill>
                <a:latin typeface="Calibri"/>
              </a:rPr>
              <a:t>TMS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57860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02A43"/>
                </a:solidFill>
                <a:latin typeface="Calibri"/>
              </a:rPr>
              <a:t>on time = left the dock by carrier pickup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063239"/>
            <a:ext cx="1417320" cy="402336"/>
          </a:xfrm>
          <a:prstGeom prst="roundRect">
            <a:avLst>
              <a:gd name="adj" fmla="val 2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746A2"/>
                </a:solidFill>
                <a:latin typeface="Calibri"/>
              </a:rPr>
              <a:t>Customer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3081527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516D83"/>
                </a:solidFill>
                <a:latin typeface="Calibri"/>
              </a:rPr>
              <a:t>CRM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081527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02A43"/>
                </a:solidFill>
                <a:latin typeface="Calibri"/>
              </a:rPr>
              <a:t>measured against the latest revised promise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566159"/>
            <a:ext cx="1417320" cy="402336"/>
          </a:xfrm>
          <a:prstGeom prst="roundRect">
            <a:avLst>
              <a:gd name="adj" fmla="val 2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746A2"/>
                </a:solidFill>
                <a:latin typeface="Calibri"/>
              </a:rPr>
              <a:t>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" y="3584447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516D83"/>
                </a:solidFill>
                <a:latin typeface="Calibri"/>
              </a:rPr>
              <a:t>WMS · 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584447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02A43"/>
                </a:solidFill>
                <a:latin typeface="Calibri"/>
              </a:rPr>
              <a:t>last night's snapshot, different part numbers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069079"/>
            <a:ext cx="1417320" cy="402336"/>
          </a:xfrm>
          <a:prstGeom prst="roundRect">
            <a:avLst>
              <a:gd name="adj" fmla="val 2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746A2"/>
                </a:solidFill>
                <a:latin typeface="Calibri"/>
              </a:rPr>
              <a:t>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4087367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516D83"/>
                </a:solidFill>
                <a:latin typeface="Calibri"/>
              </a:rPr>
              <a:t>ERP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4087367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02A43"/>
                </a:solidFill>
                <a:latin typeface="Calibri"/>
              </a:rPr>
              <a:t>missing freight booked as zero cost</a:t>
            </a:r>
          </a:p>
        </p:txBody>
      </p:sp>
      <p:sp>
        <p:nvSpPr>
          <p:cNvPr id="21" name="Pain card"/>
          <p:cNvSpPr/>
          <p:nvPr/>
        </p:nvSpPr>
        <p:spPr>
          <a:xfrm>
            <a:off x="5623560" y="1463040"/>
            <a:ext cx="3108960" cy="315468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852160" y="16002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2A43"/>
                </a:solidFill>
                <a:latin typeface="Calibri"/>
              </a:rPr>
              <a:t>What it costs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1938528"/>
            <a:ext cx="2697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02A43"/>
                </a:solidFill>
                <a:latin typeface="Calibri"/>
              </a:rPr>
              <a:t>•  Review meetings open by reconciling numbers, not deciding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02A43"/>
                </a:solidFill>
                <a:latin typeface="Calibri"/>
              </a:rPr>
              <a:t>•  Month-end numbers move later with no record of why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02A43"/>
                </a:solidFill>
                <a:latin typeface="Calibri"/>
              </a:rPr>
              <a:t>•  Chat over raw tables invents a sixth answer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02A43"/>
                </a:solidFill>
                <a:latin typeface="Calibri"/>
              </a:rPr>
              <a:t>•  Cost and audit data leak to people who should not see them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3703320"/>
            <a:ext cx="2697480" cy="777240"/>
          </a:xfrm>
          <a:prstGeom prst="roundRect">
            <a:avLst>
              <a:gd name="adj" fmla="val 10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Concordia: </a:t>
            </a:r>
            <a:r>
              <a:rPr sz="1050" b="0">
                <a:solidFill>
                  <a:srgbClr val="FFFFFF"/>
                </a:solidFill>
                <a:latin typeface="Calibri"/>
              </a:rPr>
              <a:t>each metric defined once, computed once in Snowflake, the same for every team, with its evidence attached.</a:t>
            </a:r>
          </a:p>
        </p:txBody>
      </p:sp>
      <p:sp>
        <p:nvSpPr>
          <p:cNvPr id="25" name="Footnote"/>
          <p:cNvSpPr txBox="1"/>
          <p:nvPr/>
        </p:nvSpPr>
        <p:spPr>
          <a:xfrm>
            <a:off x="411480" y="4727448"/>
            <a:ext cx="8321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16D83"/>
                </a:solidFill>
                <a:latin typeface="Calibri"/>
              </a:rPr>
              <a:t>Team definitions are illustrative of common practice, not measurements of a specific company.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mplate background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11480" y="640080"/>
            <a:ext cx="8321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02A43"/>
                </a:solidFill>
                <a:latin typeface="Calibri"/>
              </a:rPr>
              <a:t>Architecture: one governed path from source record to answer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11480" y="1042415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16D83"/>
                </a:solidFill>
                <a:latin typeface="Calibri"/>
              </a:rPr>
              <a:t>Snowflake-native end to end · the language model routes and narrates, SQL computes every number</a:t>
            </a:r>
          </a:p>
        </p:txBody>
      </p:sp>
      <p:sp>
        <p:nvSpPr>
          <p:cNvPr id="5" name="SOURCES column"/>
          <p:cNvSpPr/>
          <p:nvPr/>
        </p:nvSpPr>
        <p:spPr>
          <a:xfrm>
            <a:off x="320040" y="1481328"/>
            <a:ext cx="13258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4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20040" y="1481328"/>
            <a:ext cx="1325880" cy="347472"/>
          </a:xfrm>
          <a:prstGeom prst="roundRect">
            <a:avLst>
              <a:gd name="adj" fmla="val 25000"/>
            </a:avLst>
          </a:prstGeom>
          <a:solidFill>
            <a:srgbClr val="516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SOURCES</a:t>
            </a:r>
          </a:p>
        </p:txBody>
      </p:sp>
      <p:sp>
        <p:nvSpPr>
          <p:cNvPr id="7" name="LAND column"/>
          <p:cNvSpPr/>
          <p:nvPr/>
        </p:nvSpPr>
        <p:spPr>
          <a:xfrm>
            <a:off x="1874519" y="1481328"/>
            <a:ext cx="16002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4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874519" y="1481328"/>
            <a:ext cx="1600200" cy="347472"/>
          </a:xfrm>
          <a:prstGeom prst="roundRect">
            <a:avLst>
              <a:gd name="adj" fmla="val 25000"/>
            </a:avLst>
          </a:prstGeom>
          <a:solidFill>
            <a:srgbClr val="174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1956816"/>
            <a:ext cx="1380744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02A43"/>
                </a:solidFill>
                <a:latin typeface="Calibri"/>
              </a:rPr>
              <a:t>RAW_RECORD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02A43"/>
                </a:solidFill>
                <a:latin typeface="Calibri"/>
              </a:rPr>
              <a:t>append-only, hashed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02A43"/>
                </a:solidFill>
                <a:latin typeface="Calibri"/>
              </a:rPr>
              <a:t>Stream + Task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02A43"/>
                </a:solidFill>
                <a:latin typeface="Calibri"/>
              </a:rPr>
              <a:t>Quarantine · 111</a:t>
            </a:r>
          </a:p>
        </p:txBody>
      </p:sp>
      <p:sp>
        <p:nvSpPr>
          <p:cNvPr id="10" name="CORE column"/>
          <p:cNvSpPr/>
          <p:nvPr/>
        </p:nvSpPr>
        <p:spPr>
          <a:xfrm>
            <a:off x="3749039" y="1481328"/>
            <a:ext cx="16916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4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3749039" y="1481328"/>
            <a:ext cx="1691640" cy="347472"/>
          </a:xfrm>
          <a:prstGeom prst="roundRect">
            <a:avLst>
              <a:gd name="adj" fmla="val 25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1956816"/>
            <a:ext cx="1472184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02A43"/>
                </a:solidFill>
                <a:latin typeface="Calibri"/>
              </a:rPr>
              <a:t>Identity resolution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02A43"/>
                </a:solidFill>
                <a:latin typeface="Calibri"/>
              </a:rPr>
              <a:t>Ontology: part · party ·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02A43"/>
                </a:solidFill>
                <a:latin typeface="Calibri"/>
              </a:rPr>
              <a:t>facility · geography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02A43"/>
                </a:solidFill>
                <a:latin typeface="Calibri"/>
              </a:rPr>
              <a:t>Ledger + knowledge graph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02A43"/>
                </a:solidFill>
                <a:latin typeface="Calibri"/>
              </a:rPr>
              <a:t>Metric SQL  M1–M5</a:t>
            </a:r>
          </a:p>
        </p:txBody>
      </p:sp>
      <p:sp>
        <p:nvSpPr>
          <p:cNvPr id="13" name="APP column"/>
          <p:cNvSpPr/>
          <p:nvPr/>
        </p:nvSpPr>
        <p:spPr>
          <a:xfrm>
            <a:off x="5715000" y="1481328"/>
            <a:ext cx="150876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4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715000" y="1481328"/>
            <a:ext cx="1508760" cy="347472"/>
          </a:xfrm>
          <a:prstGeom prst="roundRect">
            <a:avLst>
              <a:gd name="adj" fmla="val 25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728" y="1956816"/>
            <a:ext cx="1289304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02A43"/>
                </a:solidFill>
                <a:latin typeface="Calibri"/>
              </a:rPr>
              <a:t>Published grid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02A43"/>
                </a:solidFill>
                <a:latin typeface="Calibri"/>
              </a:rPr>
              <a:t>19 as-of points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02A43"/>
                </a:solidFill>
                <a:latin typeface="Calibri"/>
              </a:rPr>
              <a:t>Persona-masked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02A43"/>
                </a:solidFill>
                <a:latin typeface="Calibri"/>
              </a:rPr>
              <a:t>secure functions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02A43"/>
                </a:solidFill>
                <a:latin typeface="Calibri"/>
              </a:rPr>
              <a:t>Semantic view</a:t>
            </a:r>
          </a:p>
        </p:txBody>
      </p:sp>
      <p:sp>
        <p:nvSpPr>
          <p:cNvPr id="16" name="EXPERIENCE column"/>
          <p:cNvSpPr/>
          <p:nvPr/>
        </p:nvSpPr>
        <p:spPr>
          <a:xfrm>
            <a:off x="7498079" y="1481328"/>
            <a:ext cx="13258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4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498079" y="1481328"/>
            <a:ext cx="1325880" cy="347472"/>
          </a:xfrm>
          <a:prstGeom prst="roundRect">
            <a:avLst>
              <a:gd name="adj" fmla="val 25000"/>
            </a:avLst>
          </a:prstGeom>
          <a:solidFill>
            <a:srgbClr val="174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EXPERIENCE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1938528"/>
            <a:ext cx="1106424" cy="34747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A43"/>
                </a:solidFill>
                <a:latin typeface="Calibri"/>
              </a:rPr>
              <a:t>ERP  </a:t>
            </a:r>
            <a:r>
              <a:rPr sz="850" b="0">
                <a:solidFill>
                  <a:srgbClr val="516D83"/>
                </a:solidFill>
                <a:latin typeface="Calibri"/>
              </a:rPr>
              <a:t>orders · costs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" y="2263140"/>
            <a:ext cx="1106424" cy="34747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A43"/>
                </a:solidFill>
                <a:latin typeface="Calibri"/>
              </a:rPr>
              <a:t>MES  </a:t>
            </a:r>
            <a:r>
              <a:rPr sz="850" b="0">
                <a:solidFill>
                  <a:srgbClr val="516D83"/>
                </a:solidFill>
                <a:latin typeface="Calibri"/>
              </a:rPr>
              <a:t>production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2587752"/>
            <a:ext cx="1106424" cy="34747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A43"/>
                </a:solidFill>
                <a:latin typeface="Calibri"/>
              </a:rPr>
              <a:t>WMS  </a:t>
            </a:r>
            <a:r>
              <a:rPr sz="850" b="0">
                <a:solidFill>
                  <a:srgbClr val="516D83"/>
                </a:solidFill>
                <a:latin typeface="Calibri"/>
              </a:rPr>
              <a:t>stock · holds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" y="2912364"/>
            <a:ext cx="1106424" cy="34747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A43"/>
                </a:solidFill>
                <a:latin typeface="Calibri"/>
              </a:rPr>
              <a:t>TMS  </a:t>
            </a:r>
            <a:r>
              <a:rPr sz="850" b="0">
                <a:solidFill>
                  <a:srgbClr val="516D83"/>
                </a:solidFill>
                <a:latin typeface="Calibri"/>
              </a:rPr>
              <a:t>shipments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3236976"/>
            <a:ext cx="1106424" cy="34747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A43"/>
                </a:solidFill>
                <a:latin typeface="Calibri"/>
              </a:rPr>
              <a:t>CRM  </a:t>
            </a:r>
            <a:r>
              <a:rPr sz="850" b="0">
                <a:solidFill>
                  <a:srgbClr val="516D83"/>
                </a:solidFill>
                <a:latin typeface="Calibri"/>
              </a:rPr>
              <a:t>promises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3561588"/>
            <a:ext cx="1106424" cy="34747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A43"/>
                </a:solidFill>
                <a:latin typeface="Calibri"/>
              </a:rPr>
              <a:t>IoT  </a:t>
            </a:r>
            <a:r>
              <a:rPr sz="850" b="0">
                <a:solidFill>
                  <a:srgbClr val="516D83"/>
                </a:solidFill>
                <a:latin typeface="Calibri"/>
              </a:rPr>
              <a:t>docks · lots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1956816"/>
            <a:ext cx="1143000" cy="548640"/>
          </a:xfrm>
          <a:prstGeom prst="roundRect">
            <a:avLst>
              <a:gd name="adj" fmla="val 15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1746A2"/>
                </a:solidFill>
                <a:latin typeface="Calibri"/>
              </a:rPr>
              <a:t>Streamlit in Snowflake</a:t>
            </a:r>
          </a:p>
          <a:p>
            <a:pPr algn="ctr"/>
            <a:r>
              <a:rPr sz="850" b="0">
                <a:solidFill>
                  <a:srgbClr val="516D83"/>
                </a:solidFill>
                <a:latin typeface="Calibri"/>
              </a:rPr>
              <a:t>7 pages, owner role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2596896"/>
            <a:ext cx="1143000" cy="548640"/>
          </a:xfrm>
          <a:prstGeom prst="roundRect">
            <a:avLst>
              <a:gd name="adj" fmla="val 15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1746A2"/>
                </a:solidFill>
                <a:latin typeface="Calibri"/>
              </a:rPr>
              <a:t>Ask Concordia</a:t>
            </a:r>
          </a:p>
          <a:p>
            <a:pPr algn="ctr"/>
            <a:r>
              <a:rPr sz="850" b="0">
                <a:solidFill>
                  <a:srgbClr val="516D83"/>
                </a:solidFill>
                <a:latin typeface="Calibri"/>
              </a:rPr>
              <a:t>Analyst + SQL guard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3236976"/>
            <a:ext cx="1143000" cy="548640"/>
          </a:xfrm>
          <a:prstGeom prst="roundRect">
            <a:avLst>
              <a:gd name="adj" fmla="val 15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1746A2"/>
                </a:solidFill>
                <a:latin typeface="Calibri"/>
              </a:rPr>
              <a:t>Cortex Analyst</a:t>
            </a:r>
          </a:p>
          <a:p>
            <a:pPr algn="ctr"/>
            <a:r>
              <a:rPr sz="850" b="0">
                <a:solidFill>
                  <a:srgbClr val="516D83"/>
                </a:solidFill>
                <a:latin typeface="Calibri"/>
              </a:rPr>
              <a:t>ontology-first answers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64208" y="2715768"/>
            <a:ext cx="192023" cy="0"/>
          </a:xfrm>
          <a:prstGeom prst="line">
            <a:avLst/>
          </a:prstGeom>
          <a:ln w="25400">
            <a:solidFill>
              <a:srgbClr val="516D8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493008" y="2715768"/>
            <a:ext cx="237744" cy="0"/>
          </a:xfrm>
          <a:prstGeom prst="line">
            <a:avLst/>
          </a:prstGeom>
          <a:ln w="25400">
            <a:solidFill>
              <a:srgbClr val="516D8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458968" y="2715768"/>
            <a:ext cx="237744" cy="0"/>
          </a:xfrm>
          <a:prstGeom prst="line">
            <a:avLst/>
          </a:prstGeom>
          <a:ln w="25400">
            <a:solidFill>
              <a:srgbClr val="516D8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242048" y="2715768"/>
            <a:ext cx="237744" cy="0"/>
          </a:xfrm>
          <a:prstGeom prst="line">
            <a:avLst/>
          </a:prstGeom>
          <a:ln w="25400">
            <a:solidFill>
              <a:srgbClr val="516D8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GOV band"/>
          <p:cNvSpPr/>
          <p:nvPr/>
        </p:nvSpPr>
        <p:spPr>
          <a:xfrm>
            <a:off x="1874519" y="4069080"/>
            <a:ext cx="6949440" cy="530352"/>
          </a:xfrm>
          <a:prstGeom prst="roundRect">
            <a:avLst>
              <a:gd name="adj" fmla="val 15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/>
            <a:r>
              <a:rPr sz="1100" b="1">
                <a:solidFill>
                  <a:srgbClr val="B7791F"/>
                </a:solidFill>
                <a:latin typeface="Calibri"/>
              </a:rPr>
              <a:t>GOV   </a:t>
            </a:r>
            <a:r>
              <a:rPr sz="1000" b="0">
                <a:solidFill>
                  <a:srgbClr val="102A43"/>
                </a:solidFill>
                <a:latin typeface="Calibri"/>
              </a:rPr>
              <a:t>metric contracts (versioned, hashed) · entitlements · rejected aliases · evidence · query audit · pipeline runs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06908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02A43"/>
                </a:solidFill>
                <a:latin typeface="Calibri"/>
              </a:rPr>
              <a:t>Synthetic world</a:t>
            </a:r>
          </a:p>
          <a:p>
            <a:pPr algn="l"/>
            <a:r>
              <a:rPr sz="850" b="0" i="0">
                <a:solidFill>
                  <a:srgbClr val="516D83"/>
                </a:solidFill>
                <a:latin typeface="Calibri"/>
              </a:rPr>
              <a:t>seeded simulator, 2 batches</a:t>
            </a:r>
          </a:p>
        </p:txBody>
      </p:sp>
      <p:sp>
        <p:nvSpPr>
          <p:cNvPr id="33" name="Footnote"/>
          <p:cNvSpPr txBox="1"/>
          <p:nvPr/>
        </p:nvSpPr>
        <p:spPr>
          <a:xfrm>
            <a:off x="411480" y="4727448"/>
            <a:ext cx="8321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16D83"/>
                </a:solidFill>
                <a:latin typeface="Calibri"/>
              </a:rPr>
              <a:t>Roles: ADMIN builds, TRANSFORM runs the task, APP_OWNER (never ACCOUNTADMIN) owns the app and uses governed interfaces.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mplate background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11480" y="640080"/>
            <a:ext cx="8321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02A43"/>
                </a:solidFill>
                <a:latin typeface="Calibri"/>
              </a:rPr>
              <a:t>What every team gets: one number, its definition, its evidence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11480" y="1042415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16D83"/>
                </a:solidFill>
                <a:latin typeface="Calibri"/>
              </a:rPr>
              <a:t>Live Streamlit in Snowflake app over the governed APP layer</a:t>
            </a:r>
          </a:p>
        </p:txBody>
      </p:sp>
      <p:sp>
        <p:nvSpPr>
          <p:cNvPr id="5" name="Screenshot frame"/>
          <p:cNvSpPr/>
          <p:nvPr/>
        </p:nvSpPr>
        <p:spPr>
          <a:xfrm>
            <a:off x="384048" y="1417320"/>
            <a:ext cx="4992624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4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command-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463040"/>
            <a:ext cx="4901184" cy="31089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623560" y="1444752"/>
            <a:ext cx="329184" cy="329184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53328" y="141732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02A43"/>
                </a:solidFill>
                <a:latin typeface="Calibri"/>
              </a:rPr>
              <a:t>Five governed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64592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16D83"/>
                </a:solidFill>
                <a:latin typeface="Calibri"/>
              </a:rPr>
              <a:t>Supplier OTD, customer OTD, fill rate, days of inventory, landed cost. Versioned, hashed contracts.</a:t>
            </a:r>
          </a:p>
        </p:txBody>
      </p:sp>
      <p:sp>
        <p:nvSpPr>
          <p:cNvPr id="10" name="Oval 9"/>
          <p:cNvSpPr/>
          <p:nvPr/>
        </p:nvSpPr>
        <p:spPr>
          <a:xfrm>
            <a:off x="5623560" y="2093975"/>
            <a:ext cx="329184" cy="329184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2066543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02A43"/>
                </a:solidFill>
                <a:latin typeface="Calibri"/>
              </a:rPr>
              <a:t>Ask over the ontology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2295144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16D83"/>
                </a:solidFill>
                <a:latin typeface="Calibri"/>
              </a:rPr>
              <a:t>Cortex Analyst generates semantic SQL; a guard proves metric rows against the exact published scope.</a:t>
            </a:r>
          </a:p>
        </p:txBody>
      </p:sp>
      <p:sp>
        <p:nvSpPr>
          <p:cNvPr id="13" name="Oval 12"/>
          <p:cNvSpPr/>
          <p:nvPr/>
        </p:nvSpPr>
        <p:spPr>
          <a:xfrm>
            <a:off x="5623560" y="2743199"/>
            <a:ext cx="329184" cy="329184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2715768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02A43"/>
                </a:solidFill>
                <a:latin typeface="Calibri"/>
              </a:rPr>
              <a:t>Ambiguity is refused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944368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16D83"/>
                </a:solidFill>
                <a:latin typeface="Calibri"/>
              </a:rPr>
              <a:t>Bare “OTD” asks inbound or outbound. “OTIF” is rejected. Missing cost stays incomplete.</a:t>
            </a:r>
          </a:p>
        </p:txBody>
      </p:sp>
      <p:sp>
        <p:nvSpPr>
          <p:cNvPr id="16" name="Oval 15"/>
          <p:cNvSpPr/>
          <p:nvPr/>
        </p:nvSpPr>
        <p:spPr>
          <a:xfrm>
            <a:off x="5623560" y="3392423"/>
            <a:ext cx="329184" cy="329184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364991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02A43"/>
                </a:solidFill>
                <a:latin typeface="Calibri"/>
              </a:rPr>
              <a:t>As-of replay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593591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16D83"/>
                </a:solidFill>
                <a:latin typeface="Calibri"/>
              </a:rPr>
              <a:t>What was known on the 5th versus final, and what each late load restated.</a:t>
            </a:r>
          </a:p>
        </p:txBody>
      </p:sp>
      <p:sp>
        <p:nvSpPr>
          <p:cNvPr id="19" name="Oval 18"/>
          <p:cNvSpPr/>
          <p:nvPr/>
        </p:nvSpPr>
        <p:spPr>
          <a:xfrm>
            <a:off x="5623560" y="4041648"/>
            <a:ext cx="329184" cy="329184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4014215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02A43"/>
                </a:solidFill>
                <a:latin typeface="Calibri"/>
              </a:rPr>
              <a:t>Cross-domain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4242816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16D83"/>
                </a:solidFill>
                <a:latin typeface="Calibri"/>
              </a:rPr>
              <a:t>Supplier-to-customer paths, substitutions, lots, production consumption and synthetic IoT dock events.</a:t>
            </a:r>
          </a:p>
        </p:txBody>
      </p:sp>
      <p:sp>
        <p:nvSpPr>
          <p:cNvPr id="22" name="Footnote"/>
          <p:cNvSpPr txBox="1"/>
          <p:nvPr/>
        </p:nvSpPr>
        <p:spPr>
          <a:xfrm>
            <a:off x="411480" y="4727448"/>
            <a:ext cx="8321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16D83"/>
                </a:solidFill>
                <a:latin typeface="Calibri"/>
              </a:rPr>
              <a:t>Screenshot: Command center as the VP Supply Chain persona, MM-440, May 2026, final as-of. Synthetic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mplate background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11480" y="640080"/>
            <a:ext cx="8321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02A43"/>
                </a:solidFill>
                <a:latin typeface="Calibri"/>
              </a:rPr>
              <a:t>End to end, verified on the deployed account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11480" y="1042415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16D83"/>
                </a:solidFill>
                <a:latin typeface="Calibri"/>
              </a:rPr>
              <a:t>Synthetic world CONCORDIA_SIM_V1 · two extract batches · every check re-run against live Snowflake</a:t>
            </a:r>
          </a:p>
        </p:txBody>
      </p:sp>
      <p:sp>
        <p:nvSpPr>
          <p:cNvPr id="5" name="Pentagon 4"/>
          <p:cNvSpPr/>
          <p:nvPr/>
        </p:nvSpPr>
        <p:spPr>
          <a:xfrm>
            <a:off x="411480" y="1417320"/>
            <a:ext cx="1335024" cy="566928"/>
          </a:xfrm>
          <a:prstGeom prst="homePlat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21208" y="1444752"/>
            <a:ext cx="104241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Generate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126,073 records</a:t>
            </a:r>
          </a:p>
        </p:txBody>
      </p:sp>
      <p:sp>
        <p:nvSpPr>
          <p:cNvPr id="7" name="Chevron 6"/>
          <p:cNvSpPr/>
          <p:nvPr/>
        </p:nvSpPr>
        <p:spPr>
          <a:xfrm>
            <a:off x="1810512" y="1417320"/>
            <a:ext cx="1335024" cy="566928"/>
          </a:xfrm>
          <a:prstGeom prst="chevron">
            <a:avLst/>
          </a:prstGeom>
          <a:solidFill>
            <a:srgbClr val="174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048256" y="1444752"/>
            <a:ext cx="914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Land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stream + quarantine</a:t>
            </a:r>
          </a:p>
        </p:txBody>
      </p:sp>
      <p:sp>
        <p:nvSpPr>
          <p:cNvPr id="9" name="Chevron 8"/>
          <p:cNvSpPr/>
          <p:nvPr/>
        </p:nvSpPr>
        <p:spPr>
          <a:xfrm>
            <a:off x="3209544" y="1417320"/>
            <a:ext cx="1335024" cy="566928"/>
          </a:xfrm>
          <a:prstGeom prst="chevron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47288" y="1444752"/>
            <a:ext cx="914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Resolve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one part, one party</a:t>
            </a:r>
          </a:p>
        </p:txBody>
      </p:sp>
      <p:sp>
        <p:nvSpPr>
          <p:cNvPr id="11" name="Chevron 10"/>
          <p:cNvSpPr/>
          <p:nvPr/>
        </p:nvSpPr>
        <p:spPr>
          <a:xfrm>
            <a:off x="4608576" y="1417320"/>
            <a:ext cx="1335024" cy="566928"/>
          </a:xfrm>
          <a:prstGeom prst="chevron">
            <a:avLst/>
          </a:prstGeom>
          <a:solidFill>
            <a:srgbClr val="174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846320" y="1444752"/>
            <a:ext cx="914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Compute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SQL metric functions</a:t>
            </a:r>
          </a:p>
        </p:txBody>
      </p:sp>
      <p:sp>
        <p:nvSpPr>
          <p:cNvPr id="13" name="Chevron 12"/>
          <p:cNvSpPr/>
          <p:nvPr/>
        </p:nvSpPr>
        <p:spPr>
          <a:xfrm>
            <a:off x="6007608" y="1417320"/>
            <a:ext cx="1335024" cy="566928"/>
          </a:xfrm>
          <a:prstGeom prst="chevron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45352" y="1444752"/>
            <a:ext cx="914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Publish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43,948 results</a:t>
            </a:r>
          </a:p>
        </p:txBody>
      </p:sp>
      <p:sp>
        <p:nvSpPr>
          <p:cNvPr id="15" name="Chevron 14"/>
          <p:cNvSpPr/>
          <p:nvPr/>
        </p:nvSpPr>
        <p:spPr>
          <a:xfrm>
            <a:off x="7406640" y="1417320"/>
            <a:ext cx="1335024" cy="566928"/>
          </a:xfrm>
          <a:prstGeom prst="chevron">
            <a:avLst/>
          </a:prstGeom>
          <a:solidFill>
            <a:srgbClr val="174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44383" y="1444752"/>
            <a:ext cx="914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Ask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evidenced answer</a:t>
            </a:r>
          </a:p>
        </p:txBody>
      </p:sp>
      <p:sp>
        <p:nvSpPr>
          <p:cNvPr id="17" name="Stat golden checks"/>
          <p:cNvSpPr/>
          <p:nvPr/>
        </p:nvSpPr>
        <p:spPr>
          <a:xfrm>
            <a:off x="411480" y="219456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8640" y="226771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E9F9A"/>
                </a:solidFill>
                <a:latin typeface="Calibri"/>
              </a:rPr>
              <a:t>35/35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74320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2A43"/>
                </a:solidFill>
                <a:latin typeface="Calibri"/>
              </a:rPr>
              <a:t>golden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9443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16D83"/>
                </a:solidFill>
                <a:latin typeface="Calibri"/>
              </a:rPr>
              <a:t>SQL equals the independent Python reference</a:t>
            </a:r>
          </a:p>
        </p:txBody>
      </p:sp>
      <p:sp>
        <p:nvSpPr>
          <p:cNvPr id="21" name="Stat grid samples"/>
          <p:cNvSpPr/>
          <p:nvPr/>
        </p:nvSpPr>
        <p:spPr>
          <a:xfrm>
            <a:off x="2514600" y="219456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651760" y="226771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E9F9A"/>
                </a:solidFill>
                <a:latin typeface="Calibri"/>
              </a:rPr>
              <a:t>103/103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74320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2A43"/>
                </a:solidFill>
                <a:latin typeface="Calibri"/>
              </a:rPr>
              <a:t>grid samples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29443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16D83"/>
                </a:solidFill>
                <a:latin typeface="Calibri"/>
              </a:rPr>
              <a:t>published rows equal a live function call</a:t>
            </a:r>
          </a:p>
        </p:txBody>
      </p:sp>
      <p:sp>
        <p:nvSpPr>
          <p:cNvPr id="25" name="Stat hero checks"/>
          <p:cNvSpPr/>
          <p:nvPr/>
        </p:nvSpPr>
        <p:spPr>
          <a:xfrm>
            <a:off x="4617720" y="219456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754880" y="226771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E9F9A"/>
                </a:solidFill>
                <a:latin typeface="Calibri"/>
              </a:rPr>
              <a:t>8/8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74320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2A43"/>
                </a:solidFill>
                <a:latin typeface="Calibri"/>
              </a:rPr>
              <a:t>hero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9443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16D83"/>
                </a:solidFill>
                <a:latin typeface="Calibri"/>
              </a:rPr>
              <a:t>including the restated landed cost</a:t>
            </a:r>
          </a:p>
        </p:txBody>
      </p:sp>
      <p:sp>
        <p:nvSpPr>
          <p:cNvPr id="29" name="Stat security checks"/>
          <p:cNvSpPr/>
          <p:nvPr/>
        </p:nvSpPr>
        <p:spPr>
          <a:xfrm>
            <a:off x="6720840" y="219456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58000" y="226771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E9F9A"/>
                </a:solidFill>
                <a:latin typeface="Calibri"/>
              </a:rPr>
              <a:t>14/14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2A43"/>
                </a:solidFill>
                <a:latin typeface="Calibri"/>
              </a:rPr>
              <a:t>security checks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9443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16D83"/>
                </a:solidFill>
                <a:latin typeface="Calibri"/>
              </a:rPr>
              <a:t>masking, alias refusal, role isolation</a:t>
            </a:r>
          </a:p>
        </p:txBody>
      </p:sp>
      <p:sp>
        <p:nvSpPr>
          <p:cNvPr id="33" name="Hero story"/>
          <p:cNvSpPr/>
          <p:nvPr/>
        </p:nvSpPr>
        <p:spPr>
          <a:xfrm>
            <a:off x="411480" y="3520440"/>
            <a:ext cx="83210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94360" y="361188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02A43"/>
                </a:solidFill>
                <a:latin typeface="Calibri"/>
              </a:rPr>
              <a:t>Hero: MM-440 servo motor, May 2026, one answer for every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886200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16D83"/>
                </a:solidFill>
                <a:latin typeface="Calibri"/>
              </a:rPr>
              <a:t>Supplier OTD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0690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2A43"/>
                </a:solidFill>
                <a:latin typeface="Calibri"/>
              </a:rPr>
              <a:t>2/3 · 66.7%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3886200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16D83"/>
                </a:solidFill>
                <a:latin typeface="Calibri"/>
              </a:rPr>
              <a:t>Customer OTD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40690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2A43"/>
                </a:solidFill>
                <a:latin typeface="Calibri"/>
              </a:rPr>
              <a:t>1/4 · 25.0%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3886200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16D83"/>
                </a:solidFill>
                <a:latin typeface="Calibri"/>
              </a:rPr>
              <a:t>Fill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40690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2A43"/>
                </a:solidFill>
                <a:latin typeface="Calibri"/>
              </a:rPr>
              <a:t>40/40 · 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3886200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16D83"/>
                </a:solidFill>
                <a:latin typeface="Calibri"/>
              </a:rPr>
              <a:t>Landed cost, 5 Jun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40690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B7791F"/>
                </a:solidFill>
                <a:latin typeface="Calibri"/>
              </a:rPr>
              <a:t>INCOMPLETE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3886200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16D83"/>
                </a:solidFill>
                <a:latin typeface="Calibri"/>
              </a:rPr>
              <a:t>Landed cost, 15 Jul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0690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2A43"/>
                </a:solidFill>
                <a:latin typeface="Calibri"/>
              </a:rPr>
              <a:t>$12.50 per unit</a:t>
            </a:r>
          </a:p>
        </p:txBody>
      </p:sp>
      <p:sp>
        <p:nvSpPr>
          <p:cNvPr id="45" name="Footnote"/>
          <p:cNvSpPr txBox="1"/>
          <p:nvPr/>
        </p:nvSpPr>
        <p:spPr>
          <a:xfrm>
            <a:off x="411480" y="4727448"/>
            <a:ext cx="8321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16D83"/>
                </a:solidFill>
                <a:latin typeface="Calibri"/>
              </a:rPr>
              <a:t>All data is synthetic. Parity checks prove consistency, not business impact; time saved and accuracy on real ERP data are not measured.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mplate background" descr="th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CONCORDIA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Different teams. Same truth.   github.com/ashokjangam/snowcore-pdm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