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11"/>
    <p:sldId id="258" r:id="rId10"/>
    <p:sldId id="259" r:id="rId9"/>
    <p:sldId id="260" r:id="rId8"/>
    <p:sldId id="261" r:id="rId7"/>
  </p:sldIdLst>
  <p:sldSz cy="5143500" cx="9144000"/>
  <p:notesSz cx="6858000" cy="9144000"/>
  <p:embeddedFontLst>
    <p:embeddedFont>
      <p:font typeface="Manrope SemiBold"/>
      <p:regular r:id="rId12"/>
      <p:bold r:id="rId13"/>
    </p:embeddedFont>
    <p:embeddedFont>
      <p:font typeface="Manrope"/>
      <p:regular r:id="rId14"/>
      <p:bold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6.xml"/><Relationship Id="rId8" Type="http://schemas.openxmlformats.org/officeDocument/2006/relationships/slide" Target="slides/slide5.xml"/><Relationship Id="rId9" Type="http://schemas.openxmlformats.org/officeDocument/2006/relationships/slide" Target="slides/slide4.xml"/><Relationship Id="rId10" Type="http://schemas.openxmlformats.org/officeDocument/2006/relationships/slide" Target="slides/slide3.xml"/><Relationship Id="rId11" Type="http://schemas.openxmlformats.org/officeDocument/2006/relationships/slide" Target="slides/slide2.xml"/><Relationship Id="rId12" Type="http://schemas.openxmlformats.org/officeDocument/2006/relationships/font" Target="fonts/ManropeSemiBold-regular.fntdata"/><Relationship Id="rId13" Type="http://schemas.openxmlformats.org/officeDocument/2006/relationships/font" Target="fonts/ManropeSemiBold-bold.fntdata"/><Relationship Id="rId14" Type="http://schemas.openxmlformats.org/officeDocument/2006/relationships/font" Target="fonts/Manrope-regular.fntdata"/><Relationship Id="rId15" Type="http://schemas.openxmlformats.org/officeDocument/2006/relationships/font" Target="fonts/Manrope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3" name="Google Shape;13;p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" name="Google Shape;14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7" name="Google Shape;17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0" name="Google Shape;20;p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1" name="Google Shape;21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6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5" name="Google Shape;25;p6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6" name="Google Shape;26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9" name="Google Shape;29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8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2" name="Google Shape;32;p8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3" name="Google Shape;33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9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6" name="Google Shape;36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0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10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0" name="Google Shape;40;p10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1" name="Google Shape;41;p10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2" name="Google Shape;42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1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5" name="Google Shape;45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2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8" name="Google Shape;48;p12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Relationship Id="rId4" Type="http://schemas.openxmlformats.org/officeDocument/2006/relationships/hyperlink" Target="https://hack2skill.com/event/cococlihack-gccedition/dashboard/team-management?utm_source=hack2skill&amp;utm_medium=homepage" TargetMode="External"/><Relationship Id="rId5" Type="http://schemas.openxmlformats.org/officeDocument/2006/relationships/hyperlink" Target="https://www.linkedin.com/in/jangam-ashok-53a95812b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Framexexexe 232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2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TextBox 54"/>
          <p:cNvSpPr txBox="1"/>
          <p:nvPr/>
        </p:nvSpPr>
        <p:spPr>
          <a:xfrm>
            <a:off x="6144768" y="2999232"/>
            <a:ext cx="2542032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2900" b="1">
                <a:solidFill>
                  <a:srgbClr val="0A5CA8"/>
                </a:solidFill>
                <a:latin typeface="Cambria"/>
              </a:rPr>
              <a:t>CONCORDIA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53912" y="3456432"/>
            <a:ext cx="2505456" cy="43891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000" b="1">
                <a:solidFill>
                  <a:srgbClr val="0C1822"/>
                </a:solidFill>
                <a:latin typeface="Calibri"/>
              </a:rPr>
              <a:t>DIFFERENT TEAMS. SAME TRUTH.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8912" y="3145536"/>
            <a:ext cx="5120640" cy="25603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1300" b="1">
                <a:solidFill>
                  <a:srgbClr val="0C1822"/>
                </a:solidFill>
                <a:latin typeface="Calibri"/>
              </a:rPr>
              <a:t>Team Name: </a:t>
            </a:r>
            <a:r>
              <a:rPr sz="1300" b="1">
                <a:solidFill>
                  <a:srgbClr val="0A5CA8"/>
                </a:solidFill>
                <a:latin typeface="Calibri"/>
                <a:hlinkClick r:id="rId4"/>
              </a:rPr>
              <a:t>TRidents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38912" y="3493008"/>
            <a:ext cx="5120640" cy="256032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 algn="l"/>
            <a:r>
              <a:rPr sz="1300" b="1">
                <a:solidFill>
                  <a:srgbClr val="0C1822"/>
                </a:solidFill>
                <a:latin typeface="Calibri"/>
              </a:rPr>
              <a:t>Team Leader: </a:t>
            </a:r>
            <a:r>
              <a:rPr sz="1300" b="1">
                <a:solidFill>
                  <a:srgbClr val="0A5CA8"/>
                </a:solidFill>
                <a:latin typeface="Calibri"/>
                <a:hlinkClick r:id="rId5"/>
              </a:rPr>
              <a:t>Ashok Jangam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38912" y="3840480"/>
            <a:ext cx="512064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300" b="1">
                <a:solidFill>
                  <a:srgbClr val="0C1822"/>
                </a:solidFill>
                <a:latin typeface="Calibri"/>
              </a:rPr>
              <a:t>Team Size: 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38912" y="4187952"/>
            <a:ext cx="8183879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/>
            <a:r>
              <a:rPr sz="1300" b="1">
                <a:solidFill>
                  <a:srgbClr val="0C1822"/>
                </a:solidFill>
                <a:latin typeface="Calibri"/>
              </a:rPr>
              <a:t>Problem Statement 5: Supply Chain Ontology and Governed Analytics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38912" y="4617720"/>
            <a:ext cx="8183879" cy="237744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/>
            <a:r>
              <a:rPr sz="1100" b="1">
                <a:solidFill>
                  <a:srgbClr val="0A5CA8"/>
                </a:solidFill>
                <a:latin typeface="Calibri"/>
              </a:rPr>
              <a:t>Simulated manufacturer. Five metrics. One answer for every team.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Template background" descr="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411480" y="640080"/>
            <a:ext cx="8321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02A43"/>
                </a:solidFill>
                <a:latin typeface="Calibri"/>
              </a:rPr>
              <a:t>One question. Six source systems. Too many answers.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411480" y="1042415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16D83"/>
                </a:solidFill>
                <a:latin typeface="Calibri"/>
              </a:rPr>
              <a:t>Mid-size discrete manufacturer · supply chain leadership, procurement, logistics, planning and finance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4892040" cy="457200"/>
          </a:xfrm>
          <a:prstGeom prst="roundRect">
            <a:avLst>
              <a:gd name="adj" fmla="val 25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“What was our on-time delivery in May?”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2057400"/>
            <a:ext cx="1417320" cy="402336"/>
          </a:xfrm>
          <a:prstGeom prst="roundRect">
            <a:avLst>
              <a:gd name="adj" fmla="val 20000"/>
            </a:avLst>
          </a:prstGeom>
          <a:solidFill>
            <a:srgbClr val="EAF0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1746A2"/>
                </a:solidFill>
                <a:latin typeface="Calibri"/>
              </a:rPr>
              <a:t>Procurement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38528" y="2075688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516D83"/>
                </a:solidFill>
                <a:latin typeface="Calibri"/>
              </a:rPr>
              <a:t>ERP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88920" y="2075688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02A43"/>
                </a:solidFill>
                <a:latin typeface="Calibri"/>
              </a:rPr>
              <a:t>on time = received by the PO need date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2560320"/>
            <a:ext cx="1417320" cy="402336"/>
          </a:xfrm>
          <a:prstGeom prst="roundRect">
            <a:avLst>
              <a:gd name="adj" fmla="val 20000"/>
            </a:avLst>
          </a:prstGeom>
          <a:solidFill>
            <a:srgbClr val="EAF0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1746A2"/>
                </a:solidFill>
                <a:latin typeface="Calibri"/>
              </a:rPr>
              <a:t>Logistics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38528" y="2578608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516D83"/>
                </a:solidFill>
                <a:latin typeface="Calibri"/>
              </a:rPr>
              <a:t>TMS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8920" y="2578608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02A43"/>
                </a:solidFill>
                <a:latin typeface="Calibri"/>
              </a:rPr>
              <a:t>on time = left the dock by carrier pickup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3063239"/>
            <a:ext cx="1417320" cy="402336"/>
          </a:xfrm>
          <a:prstGeom prst="roundRect">
            <a:avLst>
              <a:gd name="adj" fmla="val 20000"/>
            </a:avLst>
          </a:prstGeom>
          <a:solidFill>
            <a:srgbClr val="EAF0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1746A2"/>
                </a:solidFill>
                <a:latin typeface="Calibri"/>
              </a:rPr>
              <a:t>Customer service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38528" y="3081527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516D83"/>
                </a:solidFill>
                <a:latin typeface="Calibri"/>
              </a:rPr>
              <a:t>CRM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3081527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02A43"/>
                </a:solidFill>
                <a:latin typeface="Calibri"/>
              </a:rPr>
              <a:t>measured against the latest revised promise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566159"/>
            <a:ext cx="1417320" cy="402336"/>
          </a:xfrm>
          <a:prstGeom prst="roundRect">
            <a:avLst>
              <a:gd name="adj" fmla="val 20000"/>
            </a:avLst>
          </a:prstGeom>
          <a:solidFill>
            <a:srgbClr val="EAF0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1746A2"/>
                </a:solidFill>
                <a:latin typeface="Calibri"/>
              </a:rPr>
              <a:t>Planning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38528" y="3584447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516D83"/>
                </a:solidFill>
                <a:latin typeface="Calibri"/>
              </a:rPr>
              <a:t>WMS · MES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8920" y="3584447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02A43"/>
                </a:solidFill>
                <a:latin typeface="Calibri"/>
              </a:rPr>
              <a:t>last night's snapshot, different part numbers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4069079"/>
            <a:ext cx="1417320" cy="402336"/>
          </a:xfrm>
          <a:prstGeom prst="roundRect">
            <a:avLst>
              <a:gd name="adj" fmla="val 20000"/>
            </a:avLst>
          </a:prstGeom>
          <a:solidFill>
            <a:srgbClr val="EAF0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1746A2"/>
                </a:solidFill>
                <a:latin typeface="Calibri"/>
              </a:rPr>
              <a:t>Finance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38528" y="4087367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516D83"/>
                </a:solidFill>
                <a:latin typeface="Calibri"/>
              </a:rPr>
              <a:t>ERP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88920" y="4087367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 i="0">
                <a:solidFill>
                  <a:srgbClr val="102A43"/>
                </a:solidFill>
                <a:latin typeface="Calibri"/>
              </a:rPr>
              <a:t>missing freight booked as zero cost</a:t>
            </a:r>
          </a:p>
        </p:txBody>
      </p:sp>
      <p:sp>
        <p:nvSpPr>
          <p:cNvPr id="21" name="Pain card"/>
          <p:cNvSpPr/>
          <p:nvPr/>
        </p:nvSpPr>
        <p:spPr>
          <a:xfrm>
            <a:off x="5623560" y="1463040"/>
            <a:ext cx="3108960" cy="315468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852160" y="160020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02A43"/>
                </a:solidFill>
                <a:latin typeface="Calibri"/>
              </a:rPr>
              <a:t>What it costs today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0" y="1938528"/>
            <a:ext cx="269748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0" i="0">
                <a:solidFill>
                  <a:srgbClr val="102A43"/>
                </a:solidFill>
                <a:latin typeface="Calibri"/>
              </a:rPr>
              <a:t>•  Review meetings open by reconciling numbers, not deciding</a:t>
            </a:r>
          </a:p>
          <a:p>
            <a:pPr algn="l">
              <a:spcAft>
                <a:spcPts val="500"/>
              </a:spcAft>
            </a:pPr>
            <a:r>
              <a:rPr sz="1050" b="0" i="0">
                <a:solidFill>
                  <a:srgbClr val="102A43"/>
                </a:solidFill>
                <a:latin typeface="Calibri"/>
              </a:rPr>
              <a:t>•  Month-end numbers move later with no record of why</a:t>
            </a:r>
          </a:p>
          <a:p>
            <a:pPr algn="l">
              <a:spcAft>
                <a:spcPts val="500"/>
              </a:spcAft>
            </a:pPr>
            <a:r>
              <a:rPr sz="1050" b="0" i="0">
                <a:solidFill>
                  <a:srgbClr val="102A43"/>
                </a:solidFill>
                <a:latin typeface="Calibri"/>
              </a:rPr>
              <a:t>•  Chat over raw tables invents a sixth answer</a:t>
            </a:r>
          </a:p>
          <a:p>
            <a:pPr algn="l">
              <a:spcAft>
                <a:spcPts val="500"/>
              </a:spcAft>
            </a:pPr>
            <a:r>
              <a:rPr sz="1050" b="0" i="0">
                <a:solidFill>
                  <a:srgbClr val="102A43"/>
                </a:solidFill>
                <a:latin typeface="Calibri"/>
              </a:rPr>
              <a:t>•  Cost and audit data leak to people who should not see them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52160" y="3703320"/>
            <a:ext cx="2697480" cy="777240"/>
          </a:xfrm>
          <a:prstGeom prst="roundRect">
            <a:avLst>
              <a:gd name="adj" fmla="val 10000"/>
            </a:avLst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Concordia: </a:t>
            </a:r>
            <a:r>
              <a:rPr sz="1050" b="0">
                <a:solidFill>
                  <a:srgbClr val="FFFFFF"/>
                </a:solidFill>
                <a:latin typeface="Calibri"/>
              </a:rPr>
              <a:t>each metric defined once, computed once in Snowflake, the same for every team, with its evidence attached.</a:t>
            </a:r>
          </a:p>
        </p:txBody>
      </p:sp>
      <p:sp>
        <p:nvSpPr>
          <p:cNvPr id="25" name="Footnote"/>
          <p:cNvSpPr txBox="1"/>
          <p:nvPr/>
        </p:nvSpPr>
        <p:spPr>
          <a:xfrm>
            <a:off x="411480" y="4727448"/>
            <a:ext cx="8321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16D83"/>
                </a:solidFill>
                <a:latin typeface="Calibri"/>
              </a:rPr>
              <a:t>Team definitions are illustrative of common practice, not measurements of a specific company.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Template background" descr="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411480" y="640080"/>
            <a:ext cx="8321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02A43"/>
                </a:solidFill>
                <a:latin typeface="Calibri"/>
              </a:rPr>
              <a:t>The whole picture: governed records to evidenced answers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411480" y="1042415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16D83"/>
                </a:solidFill>
                <a:latin typeface="Calibri"/>
              </a:rPr>
              <a:t>One Snowflake-native path · the model interprets; SQL calculates and proves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1261872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516D83"/>
                </a:solidFill>
                <a:latin typeface="Calibri"/>
              </a:rPr>
              <a:t>SNOWFLAKE</a:t>
            </a:r>
          </a:p>
        </p:txBody>
      </p:sp>
      <p:sp>
        <p:nvSpPr>
          <p:cNvPr id="6" name="SOURCES layer"/>
          <p:cNvSpPr/>
          <p:nvPr/>
        </p:nvSpPr>
        <p:spPr>
          <a:xfrm>
            <a:off x="320040" y="1481328"/>
            <a:ext cx="1234440" cy="2441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4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320040" y="1481328"/>
            <a:ext cx="1234440" cy="329184"/>
          </a:xfrm>
          <a:prstGeom prst="roundRect">
            <a:avLst>
              <a:gd name="adj" fmla="val 22000"/>
            </a:avLst>
          </a:prstGeom>
          <a:solidFill>
            <a:srgbClr val="516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SOURCES</a:t>
            </a:r>
          </a:p>
        </p:txBody>
      </p:sp>
      <p:sp>
        <p:nvSpPr>
          <p:cNvPr id="8" name="LAND layer"/>
          <p:cNvSpPr/>
          <p:nvPr/>
        </p:nvSpPr>
        <p:spPr>
          <a:xfrm>
            <a:off x="1783080" y="1481328"/>
            <a:ext cx="1234440" cy="2441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4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1783080" y="1481328"/>
            <a:ext cx="1234440" cy="329184"/>
          </a:xfrm>
          <a:prstGeom prst="roundRect">
            <a:avLst>
              <a:gd name="adj" fmla="val 22000"/>
            </a:avLst>
          </a:prstGeom>
          <a:solidFill>
            <a:srgbClr val="1746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LAND</a:t>
            </a:r>
          </a:p>
        </p:txBody>
      </p:sp>
      <p:sp>
        <p:nvSpPr>
          <p:cNvPr id="10" name="CORE layer"/>
          <p:cNvSpPr/>
          <p:nvPr/>
        </p:nvSpPr>
        <p:spPr>
          <a:xfrm>
            <a:off x="3246120" y="1481328"/>
            <a:ext cx="1874519" cy="2441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4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3246120" y="1481328"/>
            <a:ext cx="1874519" cy="329184"/>
          </a:xfrm>
          <a:prstGeom prst="roundRect">
            <a:avLst>
              <a:gd name="adj" fmla="val 22000"/>
            </a:avLst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CORE</a:t>
            </a:r>
          </a:p>
        </p:txBody>
      </p:sp>
      <p:sp>
        <p:nvSpPr>
          <p:cNvPr id="12" name="APP layer"/>
          <p:cNvSpPr/>
          <p:nvPr/>
        </p:nvSpPr>
        <p:spPr>
          <a:xfrm>
            <a:off x="5349240" y="1481328"/>
            <a:ext cx="1600200" cy="2441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4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5349240" y="1481328"/>
            <a:ext cx="1600200" cy="329184"/>
          </a:xfrm>
          <a:prstGeom prst="roundRect">
            <a:avLst>
              <a:gd name="adj" fmla="val 22000"/>
            </a:avLst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APP</a:t>
            </a:r>
          </a:p>
        </p:txBody>
      </p:sp>
      <p:sp>
        <p:nvSpPr>
          <p:cNvPr id="14" name="EXPERIENCE layer"/>
          <p:cNvSpPr/>
          <p:nvPr/>
        </p:nvSpPr>
        <p:spPr>
          <a:xfrm>
            <a:off x="7178040" y="1481328"/>
            <a:ext cx="1645920" cy="2441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4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178040" y="1481328"/>
            <a:ext cx="1645920" cy="329184"/>
          </a:xfrm>
          <a:prstGeom prst="roundRect">
            <a:avLst>
              <a:gd name="adj" fmla="val 22000"/>
            </a:avLst>
          </a:prstGeom>
          <a:solidFill>
            <a:srgbClr val="1746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EXPERIENCE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" y="1901952"/>
            <a:ext cx="3291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1" i="0">
                <a:solidFill>
                  <a:srgbClr val="102A43"/>
                </a:solidFill>
                <a:latin typeface="Calibri"/>
              </a:rPr>
              <a:t>ERP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1901952"/>
            <a:ext cx="6126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516D83"/>
                </a:solidFill>
                <a:latin typeface="Calibri"/>
              </a:rPr>
              <a:t>orders · cost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" y="2212848"/>
            <a:ext cx="3291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1" i="0">
                <a:solidFill>
                  <a:srgbClr val="102A43"/>
                </a:solidFill>
                <a:latin typeface="Calibri"/>
              </a:rPr>
              <a:t>MES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2212848"/>
            <a:ext cx="6126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516D83"/>
                </a:solidFill>
                <a:latin typeface="Calibri"/>
              </a:rPr>
              <a:t>production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" y="2523744"/>
            <a:ext cx="3291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1" i="0">
                <a:solidFill>
                  <a:srgbClr val="102A43"/>
                </a:solidFill>
                <a:latin typeface="Calibri"/>
              </a:rPr>
              <a:t>WMS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2523744"/>
            <a:ext cx="6126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516D83"/>
                </a:solidFill>
                <a:latin typeface="Calibri"/>
              </a:rPr>
              <a:t>stock · receipts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" y="2834640"/>
            <a:ext cx="3291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1" i="0">
                <a:solidFill>
                  <a:srgbClr val="102A43"/>
                </a:solidFill>
                <a:latin typeface="Calibri"/>
              </a:rPr>
              <a:t>TMS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2834640"/>
            <a:ext cx="6126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516D83"/>
                </a:solidFill>
                <a:latin typeface="Calibri"/>
              </a:rPr>
              <a:t>shipments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" y="3145536"/>
            <a:ext cx="3291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1" i="0">
                <a:solidFill>
                  <a:srgbClr val="102A43"/>
                </a:solidFill>
                <a:latin typeface="Calibri"/>
              </a:rPr>
              <a:t>CRM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3145536"/>
            <a:ext cx="6126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516D83"/>
                </a:solidFill>
                <a:latin typeface="Calibri"/>
              </a:rPr>
              <a:t>promises · feedback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" y="3456432"/>
            <a:ext cx="3291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1" i="0">
                <a:solidFill>
                  <a:srgbClr val="102A43"/>
                </a:solidFill>
                <a:latin typeface="Calibri"/>
              </a:rPr>
              <a:t>IoT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3456432"/>
            <a:ext cx="6126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 i="0">
                <a:solidFill>
                  <a:srgbClr val="516D83"/>
                </a:solidFill>
                <a:latin typeface="Calibri"/>
              </a:rPr>
              <a:t>dock · lots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" y="36393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B7791F"/>
                </a:solidFill>
                <a:latin typeface="Calibri"/>
              </a:rPr>
              <a:t>126,073 synthetic records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901952" y="1883664"/>
            <a:ext cx="996696" cy="384048"/>
          </a:xfrm>
          <a:prstGeom prst="roundRect">
            <a:avLst>
              <a:gd name="adj" fmla="val 14000"/>
            </a:avLst>
          </a:prstGeom>
          <a:solidFill>
            <a:srgbClr val="EAF0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7432" bIns="27432"/>
          <a:lstStyle/>
          <a:p>
            <a:pPr algn="ctr"/>
            <a:r>
              <a:rPr sz="880" b="1">
                <a:solidFill>
                  <a:srgbClr val="1746A2"/>
                </a:solidFill>
                <a:latin typeface="Calibri"/>
              </a:rPr>
              <a:t>RAW_RECORD</a:t>
            </a:r>
          </a:p>
          <a:p>
            <a:pPr algn="ctr"/>
            <a:r>
              <a:rPr sz="780" b="0">
                <a:solidFill>
                  <a:srgbClr val="516D83"/>
                </a:solidFill>
                <a:latin typeface="Calibri"/>
              </a:rPr>
              <a:t>append-only + hash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901952" y="2340864"/>
            <a:ext cx="996696" cy="384048"/>
          </a:xfrm>
          <a:prstGeom prst="roundRect">
            <a:avLst>
              <a:gd name="adj" fmla="val 14000"/>
            </a:avLst>
          </a:prstGeom>
          <a:solidFill>
            <a:srgbClr val="EAF0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7432" bIns="27432"/>
          <a:lstStyle/>
          <a:p>
            <a:pPr algn="ctr"/>
            <a:r>
              <a:rPr sz="880" b="1">
                <a:solidFill>
                  <a:srgbClr val="1746A2"/>
                </a:solidFill>
                <a:latin typeface="Calibri"/>
              </a:rPr>
              <a:t>Stream</a:t>
            </a:r>
          </a:p>
          <a:p>
            <a:pPr algn="ctr"/>
            <a:r>
              <a:rPr sz="780" b="0">
                <a:solidFill>
                  <a:srgbClr val="516D83"/>
                </a:solidFill>
                <a:latin typeface="Calibri"/>
              </a:rPr>
              <a:t>new rows only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901952" y="2798064"/>
            <a:ext cx="996696" cy="384048"/>
          </a:xfrm>
          <a:prstGeom prst="roundRect">
            <a:avLst>
              <a:gd name="adj" fmla="val 14000"/>
            </a:avLst>
          </a:prstGeom>
          <a:solidFill>
            <a:srgbClr val="EAF0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7432" bIns="27432"/>
          <a:lstStyle/>
          <a:p>
            <a:pPr algn="ctr"/>
            <a:r>
              <a:rPr sz="880" b="1">
                <a:solidFill>
                  <a:srgbClr val="1746A2"/>
                </a:solidFill>
                <a:latin typeface="Calibri"/>
              </a:rPr>
              <a:t>Resolve task</a:t>
            </a:r>
          </a:p>
          <a:p>
            <a:pPr algn="ctr"/>
            <a:r>
              <a:rPr sz="780" b="0">
                <a:solidFill>
                  <a:srgbClr val="516D83"/>
                </a:solidFill>
                <a:latin typeface="Calibri"/>
              </a:rPr>
              <a:t>automatic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901952" y="3255264"/>
            <a:ext cx="996696" cy="384048"/>
          </a:xfrm>
          <a:prstGeom prst="roundRect">
            <a:avLst>
              <a:gd name="adj" fmla="val 14000"/>
            </a:avLst>
          </a:prstGeom>
          <a:solidFill>
            <a:srgbClr val="EAF0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7432" bIns="27432"/>
          <a:lstStyle/>
          <a:p>
            <a:pPr algn="ctr"/>
            <a:r>
              <a:rPr sz="880" b="1">
                <a:solidFill>
                  <a:srgbClr val="1746A2"/>
                </a:solidFill>
                <a:latin typeface="Calibri"/>
              </a:rPr>
              <a:t>Quarantine</a:t>
            </a:r>
          </a:p>
          <a:p>
            <a:pPr algn="ctr"/>
            <a:r>
              <a:rPr sz="780" b="0">
                <a:solidFill>
                  <a:srgbClr val="516D83"/>
                </a:solidFill>
                <a:latin typeface="Calibri"/>
              </a:rPr>
              <a:t>111 refused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383280" y="1883664"/>
            <a:ext cx="1600200" cy="384048"/>
          </a:xfrm>
          <a:prstGeom prst="roundRect">
            <a:avLst>
              <a:gd name="adj" fmla="val 14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7432" bIns="27432"/>
          <a:lstStyle/>
          <a:p>
            <a:pPr algn="ctr"/>
            <a:r>
              <a:rPr sz="880" b="1">
                <a:solidFill>
                  <a:srgbClr val="102A43"/>
                </a:solidFill>
                <a:latin typeface="Calibri"/>
              </a:rPr>
              <a:t>Canonical model</a:t>
            </a:r>
          </a:p>
          <a:p>
            <a:pPr algn="ctr"/>
            <a:r>
              <a:rPr sz="780" b="0">
                <a:solidFill>
                  <a:srgbClr val="516D83"/>
                </a:solidFill>
                <a:latin typeface="Calibri"/>
              </a:rPr>
              <a:t>part · party · site · region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83280" y="2340864"/>
            <a:ext cx="1600200" cy="384048"/>
          </a:xfrm>
          <a:prstGeom prst="roundRect">
            <a:avLst>
              <a:gd name="adj" fmla="val 14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7432" bIns="27432"/>
          <a:lstStyle/>
          <a:p>
            <a:pPr algn="ctr"/>
            <a:r>
              <a:rPr sz="880" b="1">
                <a:solidFill>
                  <a:srgbClr val="102A43"/>
                </a:solidFill>
                <a:latin typeface="Calibri"/>
              </a:rPr>
              <a:t>Identity resolution</a:t>
            </a:r>
          </a:p>
          <a:p>
            <a:pPr algn="ctr"/>
            <a:r>
              <a:rPr sz="780" b="0">
                <a:solidFill>
                  <a:srgbClr val="516D83"/>
                </a:solidFill>
                <a:latin typeface="Calibri"/>
              </a:rPr>
              <a:t>1,006 SAME_AS aliases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383280" y="2798064"/>
            <a:ext cx="1600200" cy="384048"/>
          </a:xfrm>
          <a:prstGeom prst="roundRect">
            <a:avLst>
              <a:gd name="adj" fmla="val 14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7432" bIns="27432"/>
          <a:lstStyle/>
          <a:p>
            <a:pPr algn="ctr"/>
            <a:r>
              <a:rPr sz="880" b="1">
                <a:solidFill>
                  <a:srgbClr val="102A43"/>
                </a:solidFill>
                <a:latin typeface="Calibri"/>
              </a:rPr>
              <a:t>Event ledger + graph</a:t>
            </a:r>
          </a:p>
          <a:p>
            <a:pPr algn="ctr"/>
            <a:r>
              <a:rPr sz="780" b="0">
                <a:solidFill>
                  <a:srgbClr val="516D83"/>
                </a:solidFill>
                <a:latin typeface="Calibri"/>
              </a:rPr>
              <a:t>63,664 nodes · 121,049 edges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83280" y="3255264"/>
            <a:ext cx="1600200" cy="384048"/>
          </a:xfrm>
          <a:prstGeom prst="roundRect">
            <a:avLst>
              <a:gd name="adj" fmla="val 14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7432" bIns="27432"/>
          <a:lstStyle/>
          <a:p>
            <a:pPr algn="ctr"/>
            <a:r>
              <a:rPr sz="880" b="1">
                <a:solidFill>
                  <a:srgbClr val="102A43"/>
                </a:solidFill>
                <a:latin typeface="Calibri"/>
              </a:rPr>
              <a:t>5 metric functions</a:t>
            </a:r>
          </a:p>
          <a:p>
            <a:pPr algn="ctr"/>
            <a:r>
              <a:rPr sz="780" b="0">
                <a:solidFill>
                  <a:srgbClr val="516D83"/>
                </a:solidFill>
                <a:latin typeface="Calibri"/>
              </a:rPr>
              <a:t>the only numeric authority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77256" y="1883664"/>
            <a:ext cx="1344168" cy="384048"/>
          </a:xfrm>
          <a:prstGeom prst="roundRect">
            <a:avLst>
              <a:gd name="adj" fmla="val 14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7432" bIns="27432"/>
          <a:lstStyle/>
          <a:p>
            <a:pPr algn="ctr"/>
            <a:r>
              <a:rPr sz="880" b="1">
                <a:solidFill>
                  <a:srgbClr val="0E9F9A"/>
                </a:solidFill>
                <a:latin typeface="Calibri"/>
              </a:rPr>
              <a:t>Published grid</a:t>
            </a:r>
          </a:p>
          <a:p>
            <a:pPr algn="ctr"/>
            <a:r>
              <a:rPr sz="770" b="0">
                <a:solidFill>
                  <a:srgbClr val="516D83"/>
                </a:solidFill>
                <a:latin typeface="Calibri"/>
              </a:rPr>
              <a:t>43,948 governed answers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77256" y="2340864"/>
            <a:ext cx="1344168" cy="384048"/>
          </a:xfrm>
          <a:prstGeom prst="roundRect">
            <a:avLst>
              <a:gd name="adj" fmla="val 14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7432" bIns="27432"/>
          <a:lstStyle/>
          <a:p>
            <a:pPr algn="ctr"/>
            <a:r>
              <a:rPr sz="880" b="1">
                <a:solidFill>
                  <a:srgbClr val="0E9F9A"/>
                </a:solidFill>
                <a:latin typeface="Calibri"/>
              </a:rPr>
              <a:t>Semantic ontology</a:t>
            </a:r>
          </a:p>
          <a:p>
            <a:pPr algn="ctr"/>
            <a:r>
              <a:rPr sz="770" b="0">
                <a:solidFill>
                  <a:srgbClr val="516D83"/>
                </a:solidFill>
                <a:latin typeface="Calibri"/>
              </a:rPr>
              <a:t>23 verified questions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77256" y="2798064"/>
            <a:ext cx="1344168" cy="384048"/>
          </a:xfrm>
          <a:prstGeom prst="roundRect">
            <a:avLst>
              <a:gd name="adj" fmla="val 14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7432" bIns="27432"/>
          <a:lstStyle/>
          <a:p>
            <a:pPr algn="ctr"/>
            <a:r>
              <a:rPr sz="880" b="1">
                <a:solidFill>
                  <a:srgbClr val="0E9F9A"/>
                </a:solidFill>
                <a:latin typeface="Calibri"/>
              </a:rPr>
              <a:t>Secure interfaces</a:t>
            </a:r>
          </a:p>
          <a:p>
            <a:pPr algn="ctr"/>
            <a:r>
              <a:rPr sz="770" b="0">
                <a:solidFill>
                  <a:srgbClr val="516D83"/>
                </a:solidFill>
                <a:latin typeface="Calibri"/>
              </a:rPr>
              <a:t>ASK · evidence · guarded SQL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77256" y="3255264"/>
            <a:ext cx="1344168" cy="384048"/>
          </a:xfrm>
          <a:prstGeom prst="roundRect">
            <a:avLst>
              <a:gd name="adj" fmla="val 14000"/>
            </a:avLst>
          </a:prstGeom>
          <a:solidFill>
            <a:srgbClr val="E6F6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7432" bIns="27432"/>
          <a:lstStyle/>
          <a:p>
            <a:pPr algn="ctr"/>
            <a:r>
              <a:rPr sz="880" b="1">
                <a:solidFill>
                  <a:srgbClr val="0E9F9A"/>
                </a:solidFill>
                <a:latin typeface="Calibri"/>
              </a:rPr>
              <a:t>Policies</a:t>
            </a:r>
          </a:p>
          <a:p>
            <a:pPr algn="ctr"/>
            <a:r>
              <a:rPr sz="770" b="0">
                <a:solidFill>
                  <a:srgbClr val="516D83"/>
                </a:solidFill>
                <a:latin typeface="Calibri"/>
              </a:rPr>
              <a:t>site rows · cost · WITHHELD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306056" y="1883664"/>
            <a:ext cx="1389888" cy="384048"/>
          </a:xfrm>
          <a:prstGeom prst="roundRect">
            <a:avLst>
              <a:gd name="adj" fmla="val 14000"/>
            </a:avLst>
          </a:prstGeom>
          <a:solidFill>
            <a:srgbClr val="EAF0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7432" bIns="27432"/>
          <a:lstStyle/>
          <a:p>
            <a:pPr algn="ctr"/>
            <a:r>
              <a:rPr sz="880" b="1">
                <a:solidFill>
                  <a:srgbClr val="1746A2"/>
                </a:solidFill>
                <a:latin typeface="Calibri"/>
              </a:rPr>
              <a:t>Streamlit</a:t>
            </a:r>
          </a:p>
          <a:p>
            <a:pPr algn="ctr"/>
            <a:r>
              <a:rPr sz="770" b="0">
                <a:solidFill>
                  <a:srgbClr val="516D83"/>
                </a:solidFill>
                <a:latin typeface="Calibri"/>
              </a:rPr>
              <a:t>7 role-aware pages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06056" y="2340864"/>
            <a:ext cx="1389888" cy="384048"/>
          </a:xfrm>
          <a:prstGeom prst="roundRect">
            <a:avLst>
              <a:gd name="adj" fmla="val 14000"/>
            </a:avLst>
          </a:prstGeom>
          <a:solidFill>
            <a:srgbClr val="EAF0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7432" bIns="27432"/>
          <a:lstStyle/>
          <a:p>
            <a:pPr algn="ctr"/>
            <a:r>
              <a:rPr sz="880" b="1">
                <a:solidFill>
                  <a:srgbClr val="1746A2"/>
                </a:solidFill>
                <a:latin typeface="Calibri"/>
              </a:rPr>
              <a:t>Cortex Analyst</a:t>
            </a:r>
          </a:p>
          <a:p>
            <a:pPr algn="ctr"/>
            <a:r>
              <a:rPr sz="770" b="0">
                <a:solidFill>
                  <a:srgbClr val="516D83"/>
                </a:solidFill>
                <a:latin typeface="Calibri"/>
              </a:rPr>
              <a:t>business question → SQL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306056" y="2798064"/>
            <a:ext cx="1389888" cy="384048"/>
          </a:xfrm>
          <a:prstGeom prst="roundRect">
            <a:avLst>
              <a:gd name="adj" fmla="val 14000"/>
            </a:avLst>
          </a:prstGeom>
          <a:solidFill>
            <a:srgbClr val="EAF0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7432" bIns="27432"/>
          <a:lstStyle/>
          <a:p>
            <a:pPr algn="ctr"/>
            <a:r>
              <a:rPr sz="880" b="1">
                <a:solidFill>
                  <a:srgbClr val="1746A2"/>
                </a:solidFill>
                <a:latin typeface="Calibri"/>
              </a:rPr>
              <a:t>Parity guard</a:t>
            </a:r>
          </a:p>
          <a:p>
            <a:pPr algn="ctr"/>
            <a:r>
              <a:rPr sz="770" b="0">
                <a:solidFill>
                  <a:srgbClr val="516D83"/>
                </a:solidFill>
                <a:latin typeface="Calibri"/>
              </a:rPr>
              <a:t>exact published cell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306056" y="3255264"/>
            <a:ext cx="1389888" cy="384048"/>
          </a:xfrm>
          <a:prstGeom prst="roundRect">
            <a:avLst>
              <a:gd name="adj" fmla="val 14000"/>
            </a:avLst>
          </a:prstGeom>
          <a:solidFill>
            <a:srgbClr val="EAF0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7432" bIns="27432"/>
          <a:lstStyle/>
          <a:p>
            <a:pPr algn="ctr"/>
            <a:r>
              <a:rPr sz="880" b="1">
                <a:solidFill>
                  <a:srgbClr val="1746A2"/>
                </a:solidFill>
                <a:latin typeface="Calibri"/>
              </a:rPr>
              <a:t>Evidence</a:t>
            </a:r>
          </a:p>
          <a:p>
            <a:pPr algn="ctr"/>
            <a:r>
              <a:rPr sz="770" b="0">
                <a:solidFill>
                  <a:srgbClr val="516D83"/>
                </a:solidFill>
                <a:latin typeface="Calibri"/>
              </a:rPr>
              <a:t>definition · counts · reasons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572768" y="2702052"/>
            <a:ext cx="192024" cy="0"/>
          </a:xfrm>
          <a:prstGeom prst="line">
            <a:avLst/>
          </a:prstGeom>
          <a:ln w="25400">
            <a:solidFill>
              <a:srgbClr val="516D8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3035808" y="2702052"/>
            <a:ext cx="192024" cy="0"/>
          </a:xfrm>
          <a:prstGeom prst="line">
            <a:avLst/>
          </a:prstGeom>
          <a:ln w="25400">
            <a:solidFill>
              <a:srgbClr val="516D8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5138927" y="2702052"/>
            <a:ext cx="192025" cy="0"/>
          </a:xfrm>
          <a:prstGeom prst="line">
            <a:avLst/>
          </a:prstGeom>
          <a:ln w="25400">
            <a:solidFill>
              <a:srgbClr val="516D8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967727" y="2702052"/>
            <a:ext cx="192025" cy="0"/>
          </a:xfrm>
          <a:prstGeom prst="line">
            <a:avLst/>
          </a:prstGeom>
          <a:ln w="25400">
            <a:solidFill>
              <a:srgbClr val="516D8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Governance and proof rail"/>
          <p:cNvSpPr/>
          <p:nvPr/>
        </p:nvSpPr>
        <p:spPr>
          <a:xfrm>
            <a:off x="320040" y="4078224"/>
            <a:ext cx="8503920" cy="502920"/>
          </a:xfrm>
          <a:prstGeom prst="roundRect">
            <a:avLst>
              <a:gd name="adj" fmla="val 12000"/>
            </a:avLst>
          </a:prstGeom>
          <a:solidFill>
            <a:srgbClr val="FDF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l"/>
            <a:r>
              <a:rPr sz="950" b="1">
                <a:solidFill>
                  <a:srgbClr val="B7791F"/>
                </a:solidFill>
                <a:latin typeface="Calibri"/>
              </a:rPr>
              <a:t>GOVERNANCE + PROOF  </a:t>
            </a:r>
            <a:r>
              <a:rPr sz="880" b="0">
                <a:solidFill>
                  <a:srgbClr val="102A43"/>
                </a:solidFill>
                <a:latin typeface="Calibri"/>
              </a:rPr>
              <a:t>versioned contracts · entitlements · row access · masking · audit · as-of replay · 35/35 golden · 103/103 grid · 28/28 live tests</a:t>
            </a:r>
          </a:p>
        </p:txBody>
      </p:sp>
      <p:sp>
        <p:nvSpPr>
          <p:cNvPr id="50" name="Footnote"/>
          <p:cNvSpPr txBox="1"/>
          <p:nvPr/>
        </p:nvSpPr>
        <p:spPr>
          <a:xfrm>
            <a:off x="411480" y="4727448"/>
            <a:ext cx="8321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16D83"/>
                </a:solidFill>
                <a:latin typeface="Calibri"/>
              </a:rPr>
              <a:t>The model interprets and narrates. SQL functions compute; the guard proves each metric value. All data is synthetic.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Template background" descr="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411480" y="640080"/>
            <a:ext cx="8321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02A43"/>
                </a:solidFill>
                <a:latin typeface="Calibri"/>
              </a:rPr>
              <a:t>What every team gets: one number, its definition, its evidence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411480" y="1042415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16D83"/>
                </a:solidFill>
                <a:latin typeface="Calibri"/>
              </a:rPr>
              <a:t>Live Streamlit in Snowflake app over the governed APP layer</a:t>
            </a:r>
          </a:p>
        </p:txBody>
      </p:sp>
      <p:sp>
        <p:nvSpPr>
          <p:cNvPr id="5" name="Screenshot frame"/>
          <p:cNvSpPr/>
          <p:nvPr/>
        </p:nvSpPr>
        <p:spPr>
          <a:xfrm>
            <a:off x="384048" y="1417320"/>
            <a:ext cx="4992624" cy="3200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4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command-cen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" y="1463040"/>
            <a:ext cx="4901184" cy="310896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623560" y="1444752"/>
            <a:ext cx="329184" cy="329184"/>
          </a:xfrm>
          <a:prstGeom prst="ellipse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53328" y="1417320"/>
            <a:ext cx="2697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02A43"/>
                </a:solidFill>
                <a:latin typeface="Calibri"/>
              </a:rPr>
              <a:t>Five governed metrics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53328" y="1645920"/>
            <a:ext cx="2697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16D83"/>
                </a:solidFill>
                <a:latin typeface="Calibri"/>
              </a:rPr>
              <a:t>Supplier OTD, customer OTD, fill rate, days of inventory, landed cost. Versioned, hashed contracts.</a:t>
            </a:r>
          </a:p>
        </p:txBody>
      </p:sp>
      <p:sp>
        <p:nvSpPr>
          <p:cNvPr id="10" name="Oval 9"/>
          <p:cNvSpPr/>
          <p:nvPr/>
        </p:nvSpPr>
        <p:spPr>
          <a:xfrm>
            <a:off x="5623560" y="2093975"/>
            <a:ext cx="329184" cy="329184"/>
          </a:xfrm>
          <a:prstGeom prst="ellipse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53328" y="2066543"/>
            <a:ext cx="2697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02A43"/>
                </a:solidFill>
                <a:latin typeface="Calibri"/>
              </a:rPr>
              <a:t>Ask over the ontology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53328" y="2295144"/>
            <a:ext cx="2697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16D83"/>
                </a:solidFill>
                <a:latin typeface="Calibri"/>
              </a:rPr>
              <a:t>Cortex Analyst generates semantic SQL; a guard proves metric rows against the exact published scope.</a:t>
            </a:r>
          </a:p>
        </p:txBody>
      </p:sp>
      <p:sp>
        <p:nvSpPr>
          <p:cNvPr id="13" name="Oval 12"/>
          <p:cNvSpPr/>
          <p:nvPr/>
        </p:nvSpPr>
        <p:spPr>
          <a:xfrm>
            <a:off x="5623560" y="2743199"/>
            <a:ext cx="329184" cy="329184"/>
          </a:xfrm>
          <a:prstGeom prst="ellipse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2715768"/>
            <a:ext cx="2697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02A43"/>
                </a:solidFill>
                <a:latin typeface="Calibri"/>
              </a:rPr>
              <a:t>Ambiguity is refused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3328" y="2944368"/>
            <a:ext cx="2697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16D83"/>
                </a:solidFill>
                <a:latin typeface="Calibri"/>
              </a:rPr>
              <a:t>Bare “OTD” asks inbound or outbound. “OTIF” is rejected. Missing cost stays incomplete.</a:t>
            </a:r>
          </a:p>
        </p:txBody>
      </p:sp>
      <p:sp>
        <p:nvSpPr>
          <p:cNvPr id="16" name="Oval 15"/>
          <p:cNvSpPr/>
          <p:nvPr/>
        </p:nvSpPr>
        <p:spPr>
          <a:xfrm>
            <a:off x="5623560" y="3392423"/>
            <a:ext cx="329184" cy="329184"/>
          </a:xfrm>
          <a:prstGeom prst="ellipse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53328" y="3364991"/>
            <a:ext cx="2697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02A43"/>
                </a:solidFill>
                <a:latin typeface="Calibri"/>
              </a:rPr>
              <a:t>As-of replay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53328" y="3593591"/>
            <a:ext cx="2697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16D83"/>
                </a:solidFill>
                <a:latin typeface="Calibri"/>
              </a:rPr>
              <a:t>What was known on the 5th versus final, and what each late load restated.</a:t>
            </a:r>
          </a:p>
        </p:txBody>
      </p:sp>
      <p:sp>
        <p:nvSpPr>
          <p:cNvPr id="19" name="Oval 18"/>
          <p:cNvSpPr/>
          <p:nvPr/>
        </p:nvSpPr>
        <p:spPr>
          <a:xfrm>
            <a:off x="5623560" y="4041648"/>
            <a:ext cx="329184" cy="329184"/>
          </a:xfrm>
          <a:prstGeom prst="ellipse">
            <a:avLst/>
          </a:prstGeom>
          <a:solidFill>
            <a:srgbClr val="0E9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53328" y="4014215"/>
            <a:ext cx="2697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02A43"/>
                </a:solidFill>
                <a:latin typeface="Calibri"/>
              </a:rPr>
              <a:t>Cross-domain evidence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53328" y="4242816"/>
            <a:ext cx="2697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516D83"/>
                </a:solidFill>
                <a:latin typeface="Calibri"/>
              </a:rPr>
              <a:t>Orders, receipts, cost documents, shipments, allocated lots, ship-to, returns, ratings and source aliases.</a:t>
            </a:r>
          </a:p>
        </p:txBody>
      </p:sp>
      <p:sp>
        <p:nvSpPr>
          <p:cNvPr id="22" name="Footnote"/>
          <p:cNvSpPr txBox="1"/>
          <p:nvPr/>
        </p:nvSpPr>
        <p:spPr>
          <a:xfrm>
            <a:off x="411480" y="4727448"/>
            <a:ext cx="8321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16D83"/>
                </a:solidFill>
                <a:latin typeface="Calibri"/>
              </a:rPr>
              <a:t>Screenshot: Command center as the VP Supply Chain persona, MM-440, May 2026, final as-of. Synthetic data.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Template background" descr="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411480" y="640080"/>
            <a:ext cx="83210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02A43"/>
                </a:solidFill>
                <a:latin typeface="Calibri"/>
              </a:rPr>
              <a:t>End to end, verified on the deployed account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411480" y="1042415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16D83"/>
                </a:solidFill>
                <a:latin typeface="Calibri"/>
              </a:rPr>
              <a:t>Synthetic world CONCORDIA_SIM_V1 · two extract batches · every check re-run against live Snowflake</a:t>
            </a:r>
          </a:p>
        </p:txBody>
      </p:sp>
      <p:sp>
        <p:nvSpPr>
          <p:cNvPr id="5" name="Pentagon 4"/>
          <p:cNvSpPr/>
          <p:nvPr/>
        </p:nvSpPr>
        <p:spPr>
          <a:xfrm>
            <a:off x="411480" y="1417320"/>
            <a:ext cx="1335024" cy="566928"/>
          </a:xfrm>
          <a:prstGeom prst="homePlat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21208" y="1444752"/>
            <a:ext cx="1042415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Generate</a:t>
            </a:r>
          </a:p>
          <a:p>
            <a:pPr algn="ctr"/>
            <a:r>
              <a:rPr sz="800" b="0" i="0">
                <a:solidFill>
                  <a:srgbClr val="FFFFFF"/>
                </a:solidFill>
                <a:latin typeface="Calibri"/>
              </a:rPr>
              <a:t>126,073 records</a:t>
            </a:r>
          </a:p>
        </p:txBody>
      </p:sp>
      <p:sp>
        <p:nvSpPr>
          <p:cNvPr id="7" name="Chevron 6"/>
          <p:cNvSpPr/>
          <p:nvPr/>
        </p:nvSpPr>
        <p:spPr>
          <a:xfrm>
            <a:off x="1810512" y="1417320"/>
            <a:ext cx="1335024" cy="566928"/>
          </a:xfrm>
          <a:prstGeom prst="chevron">
            <a:avLst/>
          </a:prstGeom>
          <a:solidFill>
            <a:srgbClr val="1746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2048256" y="1444752"/>
            <a:ext cx="9144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Land</a:t>
            </a:r>
          </a:p>
          <a:p>
            <a:pPr algn="ctr"/>
            <a:r>
              <a:rPr sz="800" b="0" i="0">
                <a:solidFill>
                  <a:srgbClr val="FFFFFF"/>
                </a:solidFill>
                <a:latin typeface="Calibri"/>
              </a:rPr>
              <a:t>stream + quarantine</a:t>
            </a:r>
          </a:p>
        </p:txBody>
      </p:sp>
      <p:sp>
        <p:nvSpPr>
          <p:cNvPr id="9" name="Chevron 8"/>
          <p:cNvSpPr/>
          <p:nvPr/>
        </p:nvSpPr>
        <p:spPr>
          <a:xfrm>
            <a:off x="3209544" y="1417320"/>
            <a:ext cx="1335024" cy="566928"/>
          </a:xfrm>
          <a:prstGeom prst="chevron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447288" y="1444752"/>
            <a:ext cx="9144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Resolve</a:t>
            </a:r>
          </a:p>
          <a:p>
            <a:pPr algn="ctr"/>
            <a:r>
              <a:rPr sz="800" b="0" i="0">
                <a:solidFill>
                  <a:srgbClr val="FFFFFF"/>
                </a:solidFill>
                <a:latin typeface="Calibri"/>
              </a:rPr>
              <a:t>one part, one party</a:t>
            </a:r>
          </a:p>
        </p:txBody>
      </p:sp>
      <p:sp>
        <p:nvSpPr>
          <p:cNvPr id="11" name="Chevron 10"/>
          <p:cNvSpPr/>
          <p:nvPr/>
        </p:nvSpPr>
        <p:spPr>
          <a:xfrm>
            <a:off x="4608576" y="1417320"/>
            <a:ext cx="1335024" cy="566928"/>
          </a:xfrm>
          <a:prstGeom prst="chevron">
            <a:avLst/>
          </a:prstGeom>
          <a:solidFill>
            <a:srgbClr val="1746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846320" y="1444752"/>
            <a:ext cx="9144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Compute</a:t>
            </a:r>
          </a:p>
          <a:p>
            <a:pPr algn="ctr"/>
            <a:r>
              <a:rPr sz="800" b="0" i="0">
                <a:solidFill>
                  <a:srgbClr val="FFFFFF"/>
                </a:solidFill>
                <a:latin typeface="Calibri"/>
              </a:rPr>
              <a:t>SQL metric functions</a:t>
            </a:r>
          </a:p>
        </p:txBody>
      </p:sp>
      <p:sp>
        <p:nvSpPr>
          <p:cNvPr id="13" name="Chevron 12"/>
          <p:cNvSpPr/>
          <p:nvPr/>
        </p:nvSpPr>
        <p:spPr>
          <a:xfrm>
            <a:off x="6007608" y="1417320"/>
            <a:ext cx="1335024" cy="566928"/>
          </a:xfrm>
          <a:prstGeom prst="chevron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245352" y="1444752"/>
            <a:ext cx="9144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Publish</a:t>
            </a:r>
          </a:p>
          <a:p>
            <a:pPr algn="ctr"/>
            <a:r>
              <a:rPr sz="800" b="0" i="0">
                <a:solidFill>
                  <a:srgbClr val="FFFFFF"/>
                </a:solidFill>
                <a:latin typeface="Calibri"/>
              </a:rPr>
              <a:t>43,948 results</a:t>
            </a:r>
          </a:p>
        </p:txBody>
      </p:sp>
      <p:sp>
        <p:nvSpPr>
          <p:cNvPr id="15" name="Chevron 14"/>
          <p:cNvSpPr/>
          <p:nvPr/>
        </p:nvSpPr>
        <p:spPr>
          <a:xfrm>
            <a:off x="7406640" y="1417320"/>
            <a:ext cx="1335024" cy="566928"/>
          </a:xfrm>
          <a:prstGeom prst="chevron">
            <a:avLst/>
          </a:prstGeom>
          <a:solidFill>
            <a:srgbClr val="1746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44383" y="1444752"/>
            <a:ext cx="9144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Ask</a:t>
            </a:r>
          </a:p>
          <a:p>
            <a:pPr algn="ctr"/>
            <a:r>
              <a:rPr sz="800" b="0" i="0">
                <a:solidFill>
                  <a:srgbClr val="FFFFFF"/>
                </a:solidFill>
                <a:latin typeface="Calibri"/>
              </a:rPr>
              <a:t>evidenced answer</a:t>
            </a:r>
          </a:p>
        </p:txBody>
      </p:sp>
      <p:sp>
        <p:nvSpPr>
          <p:cNvPr id="17" name="Stat golden checks"/>
          <p:cNvSpPr/>
          <p:nvPr/>
        </p:nvSpPr>
        <p:spPr>
          <a:xfrm>
            <a:off x="411480" y="2194560"/>
            <a:ext cx="1965960" cy="1143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48640" y="2267712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0E9F9A"/>
                </a:solidFill>
                <a:latin typeface="Calibri"/>
              </a:rPr>
              <a:t>35/35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2743200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02A43"/>
                </a:solidFill>
                <a:latin typeface="Calibri"/>
              </a:rPr>
              <a:t>golden checks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944368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16D83"/>
                </a:solidFill>
                <a:latin typeface="Calibri"/>
              </a:rPr>
              <a:t>SQL equals the independent Python reference</a:t>
            </a:r>
          </a:p>
        </p:txBody>
      </p:sp>
      <p:sp>
        <p:nvSpPr>
          <p:cNvPr id="21" name="Stat grid samples"/>
          <p:cNvSpPr/>
          <p:nvPr/>
        </p:nvSpPr>
        <p:spPr>
          <a:xfrm>
            <a:off x="2514600" y="2194560"/>
            <a:ext cx="1965960" cy="1143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651760" y="2267712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0E9F9A"/>
                </a:solidFill>
                <a:latin typeface="Calibri"/>
              </a:rPr>
              <a:t>103/103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51760" y="2743200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02A43"/>
                </a:solidFill>
                <a:latin typeface="Calibri"/>
              </a:rPr>
              <a:t>grid samples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51760" y="2944368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16D83"/>
                </a:solidFill>
                <a:latin typeface="Calibri"/>
              </a:rPr>
              <a:t>published rows equal a live function call</a:t>
            </a:r>
          </a:p>
        </p:txBody>
      </p:sp>
      <p:sp>
        <p:nvSpPr>
          <p:cNvPr id="25" name="Stat hero checks"/>
          <p:cNvSpPr/>
          <p:nvPr/>
        </p:nvSpPr>
        <p:spPr>
          <a:xfrm>
            <a:off x="4617720" y="2194560"/>
            <a:ext cx="1965960" cy="1143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754880" y="2267712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0E9F9A"/>
                </a:solidFill>
                <a:latin typeface="Calibri"/>
              </a:rPr>
              <a:t>8/8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0" y="2743200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02A43"/>
                </a:solidFill>
                <a:latin typeface="Calibri"/>
              </a:rPr>
              <a:t>hero checks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2944368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16D83"/>
                </a:solidFill>
                <a:latin typeface="Calibri"/>
              </a:rPr>
              <a:t>including the restated landed cost</a:t>
            </a:r>
          </a:p>
        </p:txBody>
      </p:sp>
      <p:sp>
        <p:nvSpPr>
          <p:cNvPr id="29" name="Stat security checks"/>
          <p:cNvSpPr/>
          <p:nvPr/>
        </p:nvSpPr>
        <p:spPr>
          <a:xfrm>
            <a:off x="6720840" y="2194560"/>
            <a:ext cx="1965960" cy="1143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858000" y="2267712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0E9F9A"/>
                </a:solidFill>
                <a:latin typeface="Calibri"/>
              </a:rPr>
              <a:t>14/14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2743200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02A43"/>
                </a:solidFill>
                <a:latin typeface="Calibri"/>
              </a:rPr>
              <a:t>security checks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0" y="2944368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16D83"/>
                </a:solidFill>
                <a:latin typeface="Calibri"/>
              </a:rPr>
              <a:t>masking, site row access, alias refusal, role isolation</a:t>
            </a:r>
          </a:p>
        </p:txBody>
      </p:sp>
      <p:sp>
        <p:nvSpPr>
          <p:cNvPr id="33" name="Hero story"/>
          <p:cNvSpPr/>
          <p:nvPr/>
        </p:nvSpPr>
        <p:spPr>
          <a:xfrm>
            <a:off x="411480" y="3520440"/>
            <a:ext cx="832104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4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594360" y="3611880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02A43"/>
                </a:solidFill>
                <a:latin typeface="Calibri"/>
              </a:rPr>
              <a:t>Hero: MM-440 servo motor, May 2026, one answer for every team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3886200"/>
            <a:ext cx="1508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516D83"/>
                </a:solidFill>
                <a:latin typeface="Calibri"/>
              </a:rPr>
              <a:t>Supplier OTD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" y="4069080"/>
            <a:ext cx="1508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02A43"/>
                </a:solidFill>
                <a:latin typeface="Calibri"/>
              </a:rPr>
              <a:t>2/3 · 66.7%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94560" y="3886200"/>
            <a:ext cx="1508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516D83"/>
                </a:solidFill>
                <a:latin typeface="Calibri"/>
              </a:rPr>
              <a:t>Customer OTD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94560" y="4069080"/>
            <a:ext cx="1508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02A43"/>
                </a:solidFill>
                <a:latin typeface="Calibri"/>
              </a:rPr>
              <a:t>1/4 · 25.0%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94760" y="3886200"/>
            <a:ext cx="1508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516D83"/>
                </a:solidFill>
                <a:latin typeface="Calibri"/>
              </a:rPr>
              <a:t>Fill rate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794760" y="4069080"/>
            <a:ext cx="1508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02A43"/>
                </a:solidFill>
                <a:latin typeface="Calibri"/>
              </a:rPr>
              <a:t>40/40 · 100%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94960" y="3886200"/>
            <a:ext cx="1508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516D83"/>
                </a:solidFill>
                <a:latin typeface="Calibri"/>
              </a:rPr>
              <a:t>Landed cost, 5 Jun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94960" y="4069080"/>
            <a:ext cx="1508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B7791F"/>
                </a:solidFill>
                <a:latin typeface="Calibri"/>
              </a:rPr>
              <a:t>INCOMPLETE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95160" y="3886200"/>
            <a:ext cx="1508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516D83"/>
                </a:solidFill>
                <a:latin typeface="Calibri"/>
              </a:rPr>
              <a:t>Landed cost, 15 Jul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95160" y="4069080"/>
            <a:ext cx="1508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102A43"/>
                </a:solidFill>
                <a:latin typeface="Calibri"/>
              </a:rPr>
              <a:t>$12.50 per unit</a:t>
            </a:r>
          </a:p>
        </p:txBody>
      </p:sp>
      <p:sp>
        <p:nvSpPr>
          <p:cNvPr id="45" name="Footnote"/>
          <p:cNvSpPr txBox="1"/>
          <p:nvPr/>
        </p:nvSpPr>
        <p:spPr>
          <a:xfrm>
            <a:off x="411480" y="4727448"/>
            <a:ext cx="8321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516D83"/>
                </a:solidFill>
                <a:latin typeface="Calibri"/>
              </a:rPr>
              <a:t>All data is synthetic. Parity checks prove consistency, not business impact; time saved and accuracy on real ERP data are not measured.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Template background" descr="than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468172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CONCORDIA  </a:t>
            </a:r>
            <a:r>
              <a:rPr sz="1000" b="0" i="0">
                <a:solidFill>
                  <a:srgbClr val="FFFFFF"/>
                </a:solidFill>
                <a:latin typeface="Calibri"/>
              </a:rPr>
              <a:t>Different teams. Same truth.   github.com/ashokjangam/snowcore-pdm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